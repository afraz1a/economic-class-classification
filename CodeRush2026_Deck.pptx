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CODERUSH 2026 · ML MODULE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Class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Instance Learning · Calibrated Post-hoc Thresholding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3,360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5715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0.7366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5715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17920" y="5715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961120" y="5715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Keyboard Warriors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leaderboard-ready submission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instance learning · 3-class macro F1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1780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cleaning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780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3,360 households · drop noise columns up front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per-person + bag aggregation -&gt; 333 features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7804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 models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780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XGBoost · CatBoost · how they differ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50876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loop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0876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x 3-seed CV · 135 base models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06908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17804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&amp; tuning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7804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probs · post-hoc threshold search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212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50876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50876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· per-class F1 · feature importance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521208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5212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17804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v2 -&gt; v3 journey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17804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CV said 0.75 but Kaggle didn't agree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we predicting?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household has 3-8 people, sharing one wealth label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HOUSEHOLD (BAG)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633472"/>
            <a:ext cx="493776" cy="4937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23160" y="24688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263347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4884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931920" y="24688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63347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5760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14400" y="38404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0050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008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Aunt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423160" y="38404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752" y="4005072"/>
            <a:ext cx="493776" cy="4937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14884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2296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-&gt; 21 columns (age, job, education, capital, hours...)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3520440"/>
            <a:ext cx="45720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669280" y="3931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675120" y="2103120"/>
            <a:ext cx="4937760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9494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</a:t>
            </a:r>
            <a:endParaRPr lang="en-US" sz="1800" dirty="0"/>
          </a:p>
        </p:txBody>
      </p:sp>
      <p:sp>
        <p:nvSpPr>
          <p:cNvPr id="29" name="Text 21"/>
          <p:cNvSpPr/>
          <p:nvPr/>
        </p:nvSpPr>
        <p:spPr>
          <a:xfrm>
            <a:off x="69494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 bags · 29%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675120" y="3200400"/>
            <a:ext cx="4937760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94944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MIDDLE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69494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1,260 bags · 38%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675120" y="4297680"/>
            <a:ext cx="4937760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9494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UPPER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6949440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1,120 bags · 33%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ML expects 1 row -&gt; 1 label. We have N rows -&gt; 1 shared label. This is </a:t>
            </a:r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Instance Learning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working with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16,776 individual rows aggregated into 3,360 household bags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3,360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households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8288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82880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011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16,776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82880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011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09360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households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kaggle submission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82880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2011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144000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people per bag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3 to 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3227070" cy="6400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23360"/>
            <a:ext cx="32270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 lower (29%)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75710" y="4023360"/>
            <a:ext cx="414909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75710" y="4023360"/>
            <a:ext cx="41490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1,260 middle (38%)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24800" y="4023360"/>
            <a:ext cx="368808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24800" y="4023360"/>
            <a:ext cx="368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1,120 upper (33%)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029200"/>
            <a:ext cx="10972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166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 F1 SHAPES EVERY DECISION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5486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is the unweighted mean of per-class F1 scores. </a:t>
            </a:r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our distribution is only mildly imbalanced, the metric weights every class equally — so getting one class wrong hurts the score a lot.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stages - deterministic preprocessing, then where modeling decisions live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09828" y="2011680"/>
            <a:ext cx="640080" cy="6400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1488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788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noise cols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97380" y="2331720"/>
            <a:ext cx="548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299716" y="201168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21488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56816" y="2788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956816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56816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per person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87268" y="2331720"/>
            <a:ext cx="548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689604" y="201168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764" y="21488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346704" y="2788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346704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346704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dim vector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677156" y="2331720"/>
            <a:ext cx="548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5079492" y="20116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21488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736592" y="2788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736592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K-fold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736592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5x3 = 15 splits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067044" y="2331720"/>
            <a:ext cx="548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6469380" y="20116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214884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126480" y="2788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126480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6126480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 + XGB + CAT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456932" y="2331720"/>
            <a:ext cx="548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7859268" y="20116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428" y="214884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516368" y="2788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7516368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probs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7516368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3360 x 3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8846820" y="2331720"/>
            <a:ext cx="548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9249156" y="20116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6316" y="2148840"/>
            <a:ext cx="365760" cy="36576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906256" y="2788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8906256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tune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8906256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21^3 grid search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10236708" y="2331720"/>
            <a:ext cx="548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9" name="Shape 40"/>
          <p:cNvSpPr/>
          <p:nvPr/>
        </p:nvSpPr>
        <p:spPr>
          <a:xfrm>
            <a:off x="10639044" y="20116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6204" y="2148840"/>
            <a:ext cx="365760" cy="36576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0296144" y="2788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10296144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+submit</a:t>
            </a:r>
            <a:endParaRPr lang="en-US" sz="1300" dirty="0"/>
          </a:p>
        </p:txBody>
      </p:sp>
      <p:sp>
        <p:nvSpPr>
          <p:cNvPr id="53" name="Text 43"/>
          <p:cNvSpPr/>
          <p:nvPr/>
        </p:nvSpPr>
        <p:spPr>
          <a:xfrm>
            <a:off x="10296144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</a:t>
            </a:r>
            <a:endParaRPr lang="en-US" sz="1000" dirty="0"/>
          </a:p>
        </p:txBody>
      </p:sp>
      <p:sp>
        <p:nvSpPr>
          <p:cNvPr id="54" name="Shape 44"/>
          <p:cNvSpPr/>
          <p:nvPr/>
        </p:nvSpPr>
        <p:spPr>
          <a:xfrm>
            <a:off x="566928" y="4114800"/>
            <a:ext cx="4105656" cy="36576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566928" y="4114800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56" name="Shape 46"/>
          <p:cNvSpPr/>
          <p:nvPr/>
        </p:nvSpPr>
        <p:spPr>
          <a:xfrm>
            <a:off x="4736592" y="4114800"/>
            <a:ext cx="4105656" cy="36576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4736592" y="4114800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58" name="Shape 48"/>
          <p:cNvSpPr/>
          <p:nvPr/>
        </p:nvSpPr>
        <p:spPr>
          <a:xfrm>
            <a:off x="8906256" y="4114800"/>
            <a:ext cx="2715768" cy="36576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8906256" y="4114800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60" name="Shape 50"/>
          <p:cNvSpPr/>
          <p:nvPr/>
        </p:nvSpPr>
        <p:spPr>
          <a:xfrm>
            <a:off x="548640" y="502920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548640" y="502920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52"/>
          <p:cNvSpPr/>
          <p:nvPr/>
        </p:nvSpPr>
        <p:spPr>
          <a:xfrm>
            <a:off x="731520" y="5212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 min</a:t>
            </a:r>
            <a:endParaRPr lang="en-US" sz="2800" dirty="0"/>
          </a:p>
        </p:txBody>
      </p:sp>
      <p:sp>
        <p:nvSpPr>
          <p:cNvPr id="63" name="Text 53"/>
          <p:cNvSpPr/>
          <p:nvPr/>
        </p:nvSpPr>
        <p:spPr>
          <a:xfrm>
            <a:off x="731520" y="5806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runtime, CPU only</a:t>
            </a:r>
            <a:endParaRPr lang="en-US" sz="1200" dirty="0"/>
          </a:p>
        </p:txBody>
      </p:sp>
      <p:sp>
        <p:nvSpPr>
          <p:cNvPr id="64" name="Shape 54"/>
          <p:cNvSpPr/>
          <p:nvPr/>
        </p:nvSpPr>
        <p:spPr>
          <a:xfrm>
            <a:off x="4343400" y="502920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4343400" y="502920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4526280" y="5212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333</a:t>
            </a:r>
            <a:endParaRPr lang="en-US" sz="2800" dirty="0"/>
          </a:p>
        </p:txBody>
      </p:sp>
      <p:sp>
        <p:nvSpPr>
          <p:cNvPr id="67" name="Text 57"/>
          <p:cNvSpPr/>
          <p:nvPr/>
        </p:nvSpPr>
        <p:spPr>
          <a:xfrm>
            <a:off x="4526280" y="5806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68" name="Shape 58"/>
          <p:cNvSpPr/>
          <p:nvPr/>
        </p:nvSpPr>
        <p:spPr>
          <a:xfrm>
            <a:off x="8138160" y="502920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>
            <a:off x="8138160" y="502920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0"/>
          <p:cNvSpPr/>
          <p:nvPr/>
        </p:nvSpPr>
        <p:spPr>
          <a:xfrm>
            <a:off x="8321040" y="5212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2800" dirty="0"/>
          </a:p>
        </p:txBody>
      </p:sp>
      <p:sp>
        <p:nvSpPr>
          <p:cNvPr id="71" name="Text 61"/>
          <p:cNvSpPr/>
          <p:nvPr/>
        </p:nvSpPr>
        <p:spPr>
          <a:xfrm>
            <a:off x="8321040" y="5806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 algorithm x 3 algos = 135 total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CLEANING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the leaky columns first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columns dropped before any other processing - biggest single fix from v2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669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interviewer_id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overfitting · #1 culprit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770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770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survey_duration_mins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770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metadata, no causal link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095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processing_flag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209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QA flag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6484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648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currency_code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648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near-constant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0873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087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interview_mode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4087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field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526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poverty_line_usd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constant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965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9651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person_idx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4965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 row index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4041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1560" y="54041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annual_hours_est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5404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52 x hours_per_week (redundant)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1783080"/>
            <a:ext cx="5212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LEAK HAPPENS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2377440"/>
            <a:ext cx="2194560" cy="7315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7512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#42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44000" y="2377440"/>
            <a:ext cx="2194560" cy="731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440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#42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869680" y="2743200"/>
            <a:ext cx="2743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859536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LEAK!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40880" y="4023360"/>
            <a:ext cx="4206240" cy="1463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"Oh, interviewer #42 again?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223760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middle class.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22376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Easy."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61539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LB GAIN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single change: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 to +0.05 macro F1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most important slide in this deck.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2a · INSTANCE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each person's data smarter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hand-crafted signals added to every row, before grouping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2140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6060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age, age2, age_bin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is_male, is_us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high_inc_country flag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182880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2011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12140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26280" y="26060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edu_score (17 levels)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high_edu, grad_plus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college_any flag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182880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2011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12140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0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21040" y="26060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occ_tier (0-3 score)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is_prof flag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is_lowskill flag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52044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81304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31520" y="4297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log_cap_gain, log_cap_loss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log_net_cap (signed)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high_cap, vhigh_cap flags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43400" y="352044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26280" y="37033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813048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6636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HOURS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26280" y="4297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fulltime, overtime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parttime, work_intensity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is_self_inc, is_govt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38160" y="352044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21040" y="37033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3813048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6112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8321040" y="4297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is_married, is_spouse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is_own_child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is_divorced, never_married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548640" y="5349240"/>
            <a:ext cx="11064240" cy="11887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777240" y="5486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FEATURE - econ_proxy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7772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econ_proxy = 10*occ_tier + edu_num + log_cap_gain + 5*work_intensity + 3*is_married + 5*is_self_inc + 5*high_edu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77724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weighted score capturing one person's wealth potential. Becomes our top feature when aggregated as econ_proxy_max.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DOMAIN KNOWLEDGE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Hard-coded lookup tables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can't infer wealth ordering from category names - we provide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669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TIER (occ_tier)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914400" cy="365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377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Exec-managerial · Prof-specialty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880360"/>
            <a:ext cx="91440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Protective-serv · Tech-support · Sales · Craft-repair · Armed-Forces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429000"/>
            <a:ext cx="914400" cy="3657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Transport-moving · Adm-clerical · Machine-op-inspct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931920"/>
            <a:ext cx="914400" cy="3657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Farming-fishing · Handlers-cleaners · Other-service · Priv-house-serv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1828800"/>
            <a:ext cx="52120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ORDINAL (edu_score)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377440"/>
            <a:ext cx="59436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3774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Preschool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743200"/>
            <a:ext cx="59436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743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through 12th grade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3108960"/>
            <a:ext cx="59436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1089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HS-grad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3474720"/>
            <a:ext cx="59436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474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Some-college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29400" y="3840480"/>
            <a:ext cx="59436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38404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Assoc-voc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29400" y="4206240"/>
            <a:ext cx="59436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4206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Assoc-acdm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29400" y="4572000"/>
            <a:ext cx="59436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45720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4572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29400" y="4937760"/>
            <a:ext cx="59436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4937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4937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629400" y="5303520"/>
            <a:ext cx="59436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53035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15200" y="5303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Prof-school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29400" y="5669280"/>
            <a:ext cx="59436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56692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0" y="5669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Doctorate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" y="637336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tables encode monotonicity - a single split on occ_tier &gt; 1 captures most wealth signal vs. tens of leaf splits on raw strings.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2b · BAG AGGREGATION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5 people to 1 vector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groupby(bag_id) -&gt; multi-statistic summarization -&gt; 333 dimensions per bag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PEOPLE x ~50 FEATURES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926080" cy="365760"/>
          </a:xfrm>
          <a:prstGeom prst="rect">
            <a:avLst/>
          </a:prstGeom>
          <a:solidFill>
            <a:srgbClr val="60A5FA">
              <a:alpha val="4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2926080" cy="365760"/>
          </a:xfrm>
          <a:prstGeom prst="rect">
            <a:avLst/>
          </a:prstGeom>
          <a:solidFill>
            <a:srgbClr val="60A5FA">
              <a:alpha val="4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2926080" cy="365760"/>
          </a:xfrm>
          <a:prstGeom prst="rect">
            <a:avLst/>
          </a:prstGeom>
          <a:solidFill>
            <a:srgbClr val="60A5FA">
              <a:alpha val="4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2926080" cy="365760"/>
          </a:xfrm>
          <a:prstGeom prst="rect">
            <a:avLst/>
          </a:prstGeom>
          <a:solidFill>
            <a:srgbClr val="60A5FA">
              <a:alpha val="4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2926080" cy="365760"/>
          </a:xfrm>
          <a:prstGeom prst="rect">
            <a:avLst/>
          </a:prstGeom>
          <a:solidFill>
            <a:srgbClr val="60A5FA">
              <a:alpha val="4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3108960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52044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8288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828800"/>
            <a:ext cx="73152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(x6)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mean, max, min, std, sum, q75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0" y="246888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2468880"/>
            <a:ext cx="73152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n_prof, ratio_married, n_self_inc...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310896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3108960"/>
            <a:ext cx="73152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cap_gini, edu_gini, edu_spread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97680" y="37490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3749040"/>
            <a:ext cx="73152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Top-earner profile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348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top_edu, top_occ, top_cap, top_hours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97680" y="438912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4389120"/>
            <a:ext cx="73152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entropy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348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occupation_ent, workclass_ent...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97680" y="50292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97680" y="5029200"/>
            <a:ext cx="73152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proportions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348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marital_p_*, occupation_p_*, race_p_*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75320" y="3611880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183880" y="32004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869680" y="1828800"/>
            <a:ext cx="2743200" cy="3840480"/>
          </a:xfrm>
          <a:prstGeom prst="rect">
            <a:avLst/>
          </a:prstGeom>
          <a:solidFill>
            <a:srgbClr val="F59E0B">
              <a:alpha val="2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696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BAG VECTOR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86968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333</a:t>
            </a:r>
            <a:endParaRPr lang="en-US" sz="5600" dirty="0"/>
          </a:p>
        </p:txBody>
      </p:sp>
      <p:sp>
        <p:nvSpPr>
          <p:cNvPr id="49" name="Text 47"/>
          <p:cNvSpPr/>
          <p:nvPr/>
        </p:nvSpPr>
        <p:spPr>
          <a:xfrm>
            <a:off x="886968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00684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[0.42, 1.18, 0.0, 14.2,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8.91, 0.6, 32.5, 0.8, ...]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06840" y="4663440"/>
            <a:ext cx="24688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0684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label: middle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61539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TOP-EARNER PROFILE MATTERS MOST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wealth is set by the wealthiest member, not the average. top_cap, top_occ, econ_proxy_max dominate feature importance.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· INEQUALITY MEASURES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Gini coefficient &amp; Shannon entropy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information-theoretic measures that capture distribution shape, not just averages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669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5669280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521208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 = (2 x Sum(i x xi)) / (n x Sum(xi)) - (n+1)/n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(perfect equality) -&gt; 1 (one person has it all)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capital_gain within each bag. A high Gini = one rich person + dependents -&gt; classic upper-class signature.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029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can't see this. </a:t>
            </a:r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bags both with mean capital = $20k look identical to mean stats. Only Gini distinguishes [10,10,10,10,60] from [20,20,20,20,20].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5212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828800"/>
            <a:ext cx="5212080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2468880"/>
            <a:ext cx="475488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468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H(X) = -Sum( p(x) * log p(x) 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294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(everyone same) -&gt; log(k) (uniform across k categories)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4069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occupation, workclass, relationship. Captures household composition complexity.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5029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Multi-generational households </a:t>
            </a:r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mixed occupations have higher entropy. Helps separate complex middle-class bags from concentrated upper bags.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61996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implemented as small pure functions on pandas Series - _gini(x), _entropy(x). Called once per bag during aggregation.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THE BASE LEARNERS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flavors of gradient boosted trees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growth strategies -&gt; different mistakes -&gt; averaging cancels error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36118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9339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9842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6060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32004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34290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leaf with max loss reduction, regardless of depth. 255-bin histograms for speed.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44348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NOTE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4663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overfit on small data - controlled by num_leaves &amp; min_child_samples.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18288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1828800"/>
            <a:ext cx="361188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9339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83480" y="19842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572000" y="26060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572000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level-wise growth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72000" y="32004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0" y="34290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breadth-first to fixed depth. Uses 2nd-order Hessian for split scoring.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72000" y="44348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NOTE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0" y="4663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conservative bias than LGB -&gt; useful diversity in ensemble.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138160" y="18288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138160" y="1828800"/>
            <a:ext cx="36118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93392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778240" y="19842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CATBOOST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366760" y="26060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8366760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(oblivious) trees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8366760" y="32004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366760" y="34290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split feature on every node at given depth. Ordered boosting reduces target leakage.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8366760" y="44348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NOTE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366760" y="4663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per iteration; we cap at 800 trees with early stopping.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48640" y="5532120"/>
            <a:ext cx="11064240" cy="10515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772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IDEA - GRADIENT BOOSTING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77240" y="6035040"/>
            <a:ext cx="1280160" cy="41148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77240" y="6035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2057400" y="624078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2514600" y="6035040"/>
            <a:ext cx="1280160" cy="41148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514600" y="6035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794760" y="624078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5" name="Shape 40"/>
          <p:cNvSpPr/>
          <p:nvPr/>
        </p:nvSpPr>
        <p:spPr>
          <a:xfrm>
            <a:off x="4251960" y="6035040"/>
            <a:ext cx="1280160" cy="41148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251960" y="6035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5532120" y="624078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5989320" y="6035040"/>
            <a:ext cx="1280160" cy="41148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989320" y="6035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7269480" y="624078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1" name="Shape 46"/>
          <p:cNvSpPr/>
          <p:nvPr/>
        </p:nvSpPr>
        <p:spPr>
          <a:xfrm>
            <a:off x="7726680" y="6035040"/>
            <a:ext cx="1280160" cy="411480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7726680" y="6035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600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9006840" y="624078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4" name="Shape 49"/>
          <p:cNvSpPr/>
          <p:nvPr/>
        </p:nvSpPr>
        <p:spPr>
          <a:xfrm>
            <a:off x="9464040" y="6035040"/>
            <a:ext cx="12801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9464040" y="6035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· THE MATH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gradient boosting actually works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fits the negative gradient of the loss w.r.t. current predictions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RULE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1060704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F_m(x) = F_{m-1}(x) + v * h_m(x)      where  h_m ~ -dL/dF_{m-1}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429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LOSS (cross-entropy with softmax)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749040"/>
            <a:ext cx="1060704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= -Sum_i Sum_k  y_ik * log( softmax( F_k(xi) ) 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SYMBOLS MEAN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8872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74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F_m(x)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 after m trees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5074920"/>
            <a:ext cx="118872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5074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h_m(x)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m-th decision tree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5074920"/>
            <a:ext cx="118872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5074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6404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(we use 0.04)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118872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715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74520" y="5715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cross-entropy loss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5715000"/>
            <a:ext cx="118872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5715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y_ik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5715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label: 1 if sample i is class 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5715000"/>
            <a:ext cx="118872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5715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64040" y="5715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ensemble per class - 3 of them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settings, no Optuna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stability across folds, not peak CV - every choice favors generalization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36118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18211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num_leaves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1363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min_child_samples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feature_fraction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4297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464515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bagging_fraction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4663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reg_alpha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5029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537667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394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reg_lambda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5394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182880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43400" y="1828800"/>
            <a:ext cx="36118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18288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480560" y="245059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2940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80560" y="318211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2940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80560" y="391363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colsample_bytree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294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min_child_weight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29400" y="4297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80560" y="464515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29400" y="4663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0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reg_alpha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5029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80560" y="537667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5394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tree_method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29400" y="5394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38160" y="182880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138160" y="1828800"/>
            <a:ext cx="36118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21040" y="18288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CATBOOST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275320" y="245059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6676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iterations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42416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36676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42416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275320" y="318211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6676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42416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36676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l2_leaf_reg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42416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275320" y="391363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6676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border_count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42416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36676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loss_function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424160" y="4297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MultiClass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275320" y="464515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6676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eval_metric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424160" y="4663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TotalF1:Macro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366760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early_stopping_rounds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0424160" y="5029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275320" y="5376672"/>
            <a:ext cx="333756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66760" y="5394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use_best_model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0424160" y="5394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" y="61539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CHOICES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LR (0.04) + many trees · depth 5-6 · early stopping at 60 rounds · strong reg · subsample 0.75-0.85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CROSS-VALIDATION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Stratified 5-fold x 3 seeds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different train/val arrangements · every bag predicted exactly once per seed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SEED = 5 ROUNDS, EACH BAG VAL ONCE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99616" y="1828800"/>
            <a:ext cx="195681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8288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9584" y="1828800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8288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59552" y="1828800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18288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1828800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944" y="18288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19488" y="1828800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2912" y="18288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2585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99616" y="2258568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22585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9584" y="2258568"/>
            <a:ext cx="195681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2585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59552" y="2258568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22585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2258568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22585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19488" y="2258568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82912" y="22585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2688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99616" y="2688336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268833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29584" y="2688336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268833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59552" y="2688336"/>
            <a:ext cx="195681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22976" y="268833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89520" y="2688336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268833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19488" y="2688336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82912" y="268833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31181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499616" y="3118104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63040" y="31181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529584" y="3118104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93008" y="31181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559552" y="3118104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22976" y="31181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89520" y="3118104"/>
            <a:ext cx="195681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52944" y="31181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19488" y="3118104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82912" y="31181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35478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499616" y="3547872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63040" y="354787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529584" y="3547872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93008" y="354787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59552" y="3547872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22976" y="354787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589520" y="3547872"/>
            <a:ext cx="1956816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52944" y="354787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619488" y="3547872"/>
            <a:ext cx="195681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82912" y="354787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REPEAT WITH 3 DIFFERENT SHUFFLES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4343400"/>
            <a:ext cx="3611880" cy="6400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4343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011680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5 folds x 3 models = 15 models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297680" y="4343400"/>
            <a:ext cx="3611880" cy="6400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0" y="4343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137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760720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5 folds x 3 models = 15 models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046720" y="4343400"/>
            <a:ext cx="3611880" cy="6400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9600" y="4343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2024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509760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5 folds x 3 models = 15 models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48640" y="553212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48640" y="553212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76" name="Text 74"/>
          <p:cNvSpPr/>
          <p:nvPr/>
        </p:nvSpPr>
        <p:spPr>
          <a:xfrm>
            <a:off x="731520" y="6172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splits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360420" y="553212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360420" y="553212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43300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3200" dirty="0"/>
          </a:p>
        </p:txBody>
      </p:sp>
      <p:sp>
        <p:nvSpPr>
          <p:cNvPr id="80" name="Text 78"/>
          <p:cNvSpPr/>
          <p:nvPr/>
        </p:nvSpPr>
        <p:spPr>
          <a:xfrm>
            <a:off x="3543300" y="6172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 algorithm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172200" y="553212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72200" y="553212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55080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</a:t>
            </a:r>
            <a:endParaRPr lang="en-US" sz="3200" dirty="0"/>
          </a:p>
        </p:txBody>
      </p:sp>
      <p:sp>
        <p:nvSpPr>
          <p:cNvPr id="84" name="Text 82"/>
          <p:cNvSpPr/>
          <p:nvPr/>
        </p:nvSpPr>
        <p:spPr>
          <a:xfrm>
            <a:off x="6355080" y="6172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models trained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983980" y="553212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83980" y="553212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166860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~7m</a:t>
            </a:r>
            <a:endParaRPr lang="en-US" sz="3200" dirty="0"/>
          </a:p>
        </p:txBody>
      </p:sp>
      <p:sp>
        <p:nvSpPr>
          <p:cNvPr id="88" name="Text 86"/>
          <p:cNvSpPr/>
          <p:nvPr/>
        </p:nvSpPr>
        <p:spPr>
          <a:xfrm>
            <a:off x="9166860" y="6172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runtime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TRAINING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in each fold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train on the same fold split with early stopping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858000" cy="41148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seed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[42, 137, 2024]: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skf = StratifiedKFold(n_splits=5, 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fold, (tri, vai)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enumerate(skf.split(X, y)):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Xtr, Xva = X[tri], X[vai]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ytr, yva = y[tri], y[vai]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-- LightGBM 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m_lgb = lgb.LGBMClassifier(**get_lgb_params(seed))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m_lgb.fit(Xtr, ytr, eval_set=[(Xva, yva)],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callbacks=[lgb.early_stopping(60)])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oof_lgb_s[vai] = m_lgb.predict_proba(Xva)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-- XGBoost 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m_xgb = xgb.XGBClassifier(**get_xgb_params(seed))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m_xgb.fit(Xtr, ytr, eval_set=[(Xva, yva)],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early_stopping_rounds=60, verbose=False)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-- CatBoost 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m_cat = cb.CatBoostClassifier(**get_cat_params(seed))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m_cat.fit(Xtr, ytr, eval_set=(Xva, yva))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0" y="182880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0" y="2313432"/>
            <a:ext cx="384048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· Fold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33272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0.7270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· Fold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332720" y="2743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0.7374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3136392"/>
            <a:ext cx="384048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· Fold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33272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0.6923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· Fold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3272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0.7166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3959352"/>
            <a:ext cx="384048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· Fold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33272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0.7227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137 · all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32720" y="4389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0.7035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4782312"/>
            <a:ext cx="3840480" cy="36576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4800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2024 · all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3272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0.7160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5303520"/>
            <a:ext cx="3840480" cy="5029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5303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0.7260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1539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 yields: 3 fitted models + 672 OOF probability rows + 400 averaged test predictions.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ENSEMBLE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the three probability streams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mean across three model types - variance reduction without retraining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109728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P_LGB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3,360 x 3 probability matrix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row: [0.28, 0.46, 0.26]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0896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P_XGB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3,360 x 3 probability matrix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row: [0.31, 0.42, 0.27]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3657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0624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P_CAT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3,360 x 3 probability matrix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row: [0.29, 0.44, 0.27]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3017520"/>
            <a:ext cx="2743200" cy="1097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(P_LGB + P_XGB + P_CAT) /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[0.293, 0.440, 0.267]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09560" y="3566160"/>
            <a:ext cx="5486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549640" y="3017520"/>
            <a:ext cx="306324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3108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MACRO F1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0.7260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1064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548640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623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AVERAGE BEATS STACKING HERE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5897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GBDTs on the same features produce highly correlated outputs. </a:t>
            </a:r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reduces variance. </a:t>
            </a:r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helps when models are complementary — not our case. v2's LR meta-learner mostly fit OOF noise.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· THE DECISIVE TRICK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Post-hoc per-class threshold tuning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distort probabilities during training. Calibrate the decision boundary after.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66928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86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argmax always picks the highest probability. But for macro F1, you want each class to win when it's relatively most likely. A bias on middle (most common) means lower &amp; upper get under-predicted.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5212080" cy="128016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class probability by a learnable weight before argmax. Tune weights on OOF data to maximize macro F1 directly. Three knobs, full continuous control, no retraining.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64240" cy="7772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prediction(i) = argmax_k ( w_k * p_k(i) 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(21^3 = 9,261 combinations)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669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502920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np.linspace(0.5, 2.0, 21)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w0, w1, w2 in product(grid, ...):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argmax(probs * [w0, w1, w2])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f1 = f1_score(y, pred, 'macro')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 best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937760"/>
            <a:ext cx="521208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5074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WEIGHTS FOUND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544068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5486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1.175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629400" y="5989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57032" y="544068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5486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1.025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257032" y="5989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84664" y="544068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84664" y="5486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884664" y="5989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6446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FROM TUNING ALONE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0.7260 -&gt;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0.7366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no retraining, +0.0106 macro F1 for free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OOF performance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and per-class F1 - middle is the boundary class, upper is easiest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57600" cy="14630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MACRO F1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0.7366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3611880"/>
            <a:ext cx="2286000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3611880"/>
            <a:ext cx="1508760" cy="228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54480" y="4251960"/>
            <a:ext cx="2286000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4251960"/>
            <a:ext cx="1577340" cy="228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54480" y="4892040"/>
            <a:ext cx="2286000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4892040"/>
            <a:ext cx="1965960" cy="228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4800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lower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middle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upper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lower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514600"/>
            <a:ext cx="1280160" cy="6400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43800" y="2514600"/>
            <a:ext cx="128016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915400" y="2514600"/>
            <a:ext cx="128016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37760" y="3200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middle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3246120"/>
            <a:ext cx="128016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43800" y="3246120"/>
            <a:ext cx="128016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871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915400" y="3246120"/>
            <a:ext cx="128016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37760" y="39319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upper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3977640"/>
            <a:ext cx="128016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43800" y="3977640"/>
            <a:ext cx="128016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915400" y="3977640"/>
            <a:ext cx="128016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864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89788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35040"/>
            <a:ext cx="274320" cy="27432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051560" y="5989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class dominates: F1 = 0.86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1051560" y="6309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wealth signals like high capital_gain make this class unambiguous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343400" y="589788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6035040"/>
            <a:ext cx="274320" cy="274320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4846320" y="5989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class struggles: F1 = 0.66</a:t>
            </a:r>
            <a:endParaRPr lang="en-US" sz="1100" dirty="0"/>
          </a:p>
        </p:txBody>
      </p:sp>
      <p:sp>
        <p:nvSpPr>
          <p:cNvPr id="55" name="Text 51"/>
          <p:cNvSpPr/>
          <p:nvPr/>
        </p:nvSpPr>
        <p:spPr>
          <a:xfrm>
            <a:off x="4846320" y="6309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confusion with middle (305 mislabeled lower as middle)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8138160" y="589788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6035040"/>
            <a:ext cx="274320" cy="274320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8641080" y="5989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is the boundary class</a:t>
            </a:r>
            <a:endParaRPr lang="en-US" sz="1100" dirty="0"/>
          </a:p>
        </p:txBody>
      </p:sp>
      <p:sp>
        <p:nvSpPr>
          <p:cNvPr id="59" name="Text 54"/>
          <p:cNvSpPr/>
          <p:nvPr/>
        </p:nvSpPr>
        <p:spPr>
          <a:xfrm>
            <a:off x="8641080" y="6309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both neighbors - confused with both lower and upper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actually learned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features by LightGBM gain - top-earner profile dominates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econ_proxy_max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37944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837944"/>
            <a:ext cx="6858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0" y="1783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93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top_cap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148840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148840"/>
            <a:ext cx="596646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0" y="2093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404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capital_gain_max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459736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459736"/>
            <a:ext cx="541782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0" y="2404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715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edu_x_occ_mean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770632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770632"/>
            <a:ext cx="486918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0" y="27157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0266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log_cap_gain_max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081528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3081528"/>
            <a:ext cx="452628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0" y="30266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ratio_high_edu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392424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3392424"/>
            <a:ext cx="397764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33375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6484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top_occ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3703320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703320"/>
            <a:ext cx="370332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24160" y="36484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3959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econ_proxy_sum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3280" y="4014216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280" y="4014216"/>
            <a:ext cx="3429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24160" y="39593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270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cap_gini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83280" y="4325112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3280" y="4325112"/>
            <a:ext cx="322326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24160" y="42702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45811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hours_per_week_max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83280" y="4636008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0" y="4636008"/>
            <a:ext cx="301752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24160" y="45811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4892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prof_x_cap_max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83280" y="4946904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4946904"/>
            <a:ext cx="27432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24160" y="48920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52029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top_edu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83280" y="5257800"/>
            <a:ext cx="6858000" cy="201168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83280" y="5257800"/>
            <a:ext cx="253746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24160" y="52029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5715000"/>
            <a:ext cx="11064240" cy="9144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77240" y="6080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top 12 are top-earner features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(econ_proxy_max, top_cap, top_occ, top_edu, capital_gain_max) confirms household-wealth-is-set-by-richest hypothesis. Capital signals dominate upper class.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· v2 PROBLEMS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our first version failed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reported 0.75. Kaggle disagreed. The gap was telling us something.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6596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9202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Optuna trap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2128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trials x 5-fold CV on same data as final training. Picked lucky scores, not real ones. ~0.02-0.03 inflation.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96596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19202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class_weight='balanced'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22128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Reweighted training loss -&gt; distorted probabilities. Decision boundary baked in, doesn't match test distribution.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548640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92608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2880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stacking on correlated models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1729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OOF probability features into logistic regression. Three GBDTs are too correlated -&gt; meta fits noise.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788920"/>
            <a:ext cx="548640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92608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880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folds x 1 seed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31729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336 val bags per fold = high variance. Same fold partitions every run, no error decorrelation.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548640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88620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17320" y="38404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interviewer_id leak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17320" y="413308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dropped. After bag aggregation became 6+ derivative features. ID overfitting on shared interviewer pool.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48640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388620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86600" y="38404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 &lt; 1e-6 drop threshold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86600" y="413308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some near-zero variance binaries inconsistently between train/test -&gt; silent feature mismatch.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709160"/>
            <a:ext cx="548640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484632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417320" y="4800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multi_class deprecation bug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417320" y="50932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Inner-CV LR used multi_class='multinomial', final LR didn't. Different effective models evaluated and deployed.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reported ~0.75 · LB landed near 0.65 · ~10-point gap from compounding optimism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v2 -&gt; v3 · FIXES MAPPED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problem, paired with its fix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estimated leaderboard gain from each change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114800" cy="4114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754880" cy="4114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FIX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0" y="1828800"/>
            <a:ext cx="2011680" cy="4114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LB GAIN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Noise/ID columns leaked through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8 noise columns up front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7383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+0.02 to +0.05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picked CV-noise maxima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conservative hyperparameters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38360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+0.01 to +0.03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distorted probs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weights -&gt; post-hoc threshold tune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3836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+0.01 to +0.02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stacking on correlated models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averaging - variance reduction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3836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+0.005 to +0.015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297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folds x 1 seed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folds x 3 seeds - more bags + decorrelated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383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+0.005 to +0.010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4800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&lt; 1e-6 dropped useful binaries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4800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== 0.0 - only strictly constant cols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38360" y="4800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303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multi_class deprecation bug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LR meta - bug eliminated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38360" y="5303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61539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IMPACT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CV 0.75 / LB ~0.65   -&gt;   v3: OOF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0.7366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expected LB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0.71-0.73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smaller gap = honest CV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CLASS WEIGHTS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class_weight='balanced' actually hurts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Counterintuitive - it's the 'obvious' fix that wasted 0.01-0.02 macro F1 in v2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669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566928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5212080" cy="64008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w_k = N / (K * n_k)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DISTRIBUTION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w_lower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3360 / (3*980)  = 1.143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w_middle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3360 / (3*1260) = 0.889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105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w_upper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3360 / (3*1120) = 1.000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526280"/>
            <a:ext cx="5212080" cy="146304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BACKFIRES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become uncalibrated
</a:t>
            </a:r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 baked into model - fixed and inflexible
</a:t>
            </a:r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match test distribution if it differs at 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828800"/>
            <a:ext cx="52120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828800"/>
            <a:ext cx="52120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natural distribution -&gt; get well-calibrated probabilities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3291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3520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decision threshold post-hoc on OOF data, optimizing actual macro F1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4251960"/>
            <a:ext cx="4754880" cy="173736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TUNED WEIGHTS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[ 1.175,  1.025,  0.875 ]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6560" y="52120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milder correction than 'balanced' - calibrated for the actual metric, not the training distribution.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decision threshold as a tunable knob beats baking it into training. Strictly more flexible.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3291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built, in 5 ideas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idea is one principle: honest CV is more valuable than high CV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317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the cheats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leak-prone columns up front. interviewer_id was our biggest culprit.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192024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21945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317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features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1772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~333 hand-crafted signals using domain knowledge. Top-earner profile dominates importance.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192024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12480" y="21945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317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8972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1248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XGBoost + CatBoost. Average their probabilities - different errors cancel.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423160" y="374904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697480" y="40233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41605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7472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CV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2697480" y="4754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folds x 3 seeds, no Optuna over-tuning, conservative hyperparameters.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217920" y="374904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92240" y="40233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6052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6948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tuning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6492240" y="4754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reweight the loss - calibrate the decision boundary post-hoc on OOF data.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48640" y="5669280"/>
            <a:ext cx="2697480" cy="9601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8580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0.7366</a:t>
            </a:r>
            <a:endParaRPr lang="en-US" sz="2400" dirty="0"/>
          </a:p>
        </p:txBody>
      </p:sp>
      <p:sp>
        <p:nvSpPr>
          <p:cNvPr id="34" name="Text 27"/>
          <p:cNvSpPr/>
          <p:nvPr/>
        </p:nvSpPr>
        <p:spPr>
          <a:xfrm>
            <a:off x="685800" y="6263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OOF macro F1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360420" y="5669280"/>
            <a:ext cx="2697480" cy="9601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349758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</a:t>
            </a:r>
            <a:endParaRPr lang="en-US" sz="2400" dirty="0"/>
          </a:p>
        </p:txBody>
      </p:sp>
      <p:sp>
        <p:nvSpPr>
          <p:cNvPr id="37" name="Text 30"/>
          <p:cNvSpPr/>
          <p:nvPr/>
        </p:nvSpPr>
        <p:spPr>
          <a:xfrm>
            <a:off x="3497580" y="6263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172200" y="5669280"/>
            <a:ext cx="2697480" cy="9601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30936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 min</a:t>
            </a:r>
            <a:endParaRPr lang="en-US" sz="2400" dirty="0"/>
          </a:p>
        </p:txBody>
      </p:sp>
      <p:sp>
        <p:nvSpPr>
          <p:cNvPr id="40" name="Text 33"/>
          <p:cNvSpPr/>
          <p:nvPr/>
        </p:nvSpPr>
        <p:spPr>
          <a:xfrm>
            <a:off x="6309360" y="6263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runtime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8983980" y="5669280"/>
            <a:ext cx="2697480" cy="96012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912114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+0.0106</a:t>
            </a:r>
            <a:endParaRPr lang="en-US" sz="2400" dirty="0"/>
          </a:p>
        </p:txBody>
      </p:sp>
      <p:sp>
        <p:nvSpPr>
          <p:cNvPr id="43" name="Text 36"/>
          <p:cNvSpPr/>
          <p:nvPr/>
        </p:nvSpPr>
        <p:spPr>
          <a:xfrm>
            <a:off x="9121140" y="6263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F1 from threshold tuning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KEYBOARD WARRIORS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0.7366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Kaggle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CodeRush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CodeRush 2026 — Economic Class Classification</dc:title>
  <dc:subject>PptxGenJS Presentation</dc:subject>
  <dc:creator>Team Keyboard Warriors</dc:creator>
  <cp:lastModifiedBy>Team Keyboard Warriors</cp:lastModifiedBy>
  <cp:revision>1</cp:revision>
  <dcterms:created xsi:type="dcterms:W3CDTF">2026-05-10T00:04:52Z</dcterms:created>
  <dcterms:modified xsi:type="dcterms:W3CDTF">2026-05-10T00:04:52Z</dcterms:modified>
</cp:coreProperties>
</file>